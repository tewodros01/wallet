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9EA67B9-C230-4BE0-9740-C88FA5FA284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C393062-A709-45FF-BB0A-E5CBEA7C095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1400" cy="38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4680" cy="38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831A2E8-DB5D-4D2A-88A1-DAF239A94703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9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4680" cy="38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1400" cy="38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4680" cy="38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16E9B9D-DE1F-472B-90BA-B64E57C83C5C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4680" cy="38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2"/>
          <p:cNvSpPr/>
          <p:nvPr/>
        </p:nvSpPr>
        <p:spPr>
          <a:xfrm>
            <a:off x="685800" y="411480"/>
            <a:ext cx="5025240" cy="68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Poppins"/>
                <a:ea typeface="Poppins"/>
              </a:rPr>
              <a:t>Bingo Game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685800" y="1078920"/>
            <a:ext cx="5025240" cy="4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22c55e"/>
                </a:solidFill>
                <a:latin typeface="Open Sans"/>
                <a:ea typeface="Open Sans"/>
              </a:rPr>
              <a:t>Investor Pitch Deck: Telegram Integration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685800" y="1600200"/>
            <a:ext cx="4568040" cy="10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facc15"/>
                </a:solidFill>
                <a:latin typeface="Poppins"/>
                <a:ea typeface="Poppins"/>
              </a:rPr>
              <a:t>Instant social gaming inside Telegram.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685800" y="2331720"/>
            <a:ext cx="4750920" cy="10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1a1aa"/>
                </a:solidFill>
                <a:latin typeface="Open Sans"/>
                <a:ea typeface="Open Sans"/>
              </a:rPr>
              <a:t>Real-time multiplayer bingo and keno in a Telegram Mini App with an integrated wallet.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685800" y="3246120"/>
            <a:ext cx="1779120" cy="407520"/>
          </a:xfrm>
          <a:prstGeom prst="roundRect">
            <a:avLst>
              <a:gd name="adj" fmla="val 16667"/>
            </a:avLst>
          </a:prstGeom>
          <a:solidFill>
            <a:srgbClr val="151b2e"/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Poppins"/>
                <a:ea typeface="Poppins"/>
              </a:rPr>
              <a:t>Telegram Mini App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2606040" y="3246120"/>
            <a:ext cx="2419920" cy="407520"/>
          </a:xfrm>
          <a:prstGeom prst="roundRect">
            <a:avLst>
              <a:gd name="adj" fmla="val 16667"/>
            </a:avLst>
          </a:prstGeom>
          <a:solidFill>
            <a:srgbClr val="151b2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Poppins"/>
                <a:ea typeface="Poppins"/>
              </a:rPr>
              <a:t>Wallet-ready gameplay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" name="Picture 8" descr=""/>
          <p:cNvPicPr/>
          <p:nvPr/>
        </p:nvPicPr>
        <p:blipFill>
          <a:blip r:embed="rId1"/>
          <a:stretch/>
        </p:blipFill>
        <p:spPr>
          <a:xfrm>
            <a:off x="6760080" y="560160"/>
            <a:ext cx="2358000" cy="4817880"/>
          </a:xfrm>
          <a:prstGeom prst="rect">
            <a:avLst/>
          </a:prstGeom>
          <a:ln w="0">
            <a:noFill/>
          </a:ln>
        </p:spPr>
      </p:pic>
      <p:pic>
        <p:nvPicPr>
          <p:cNvPr id="19" name="Picture 9" descr=""/>
          <p:cNvPicPr/>
          <p:nvPr/>
        </p:nvPicPr>
        <p:blipFill>
          <a:blip r:embed="rId2"/>
          <a:stretch/>
        </p:blipFill>
        <p:spPr>
          <a:xfrm>
            <a:off x="9249840" y="920160"/>
            <a:ext cx="1757880" cy="3817800"/>
          </a:xfrm>
          <a:prstGeom prst="rect">
            <a:avLst/>
          </a:prstGeom>
          <a:ln w="0">
            <a:noFill/>
          </a:ln>
        </p:spPr>
      </p:pic>
      <p:sp>
        <p:nvSpPr>
          <p:cNvPr id="20" name="Shape 90"/>
          <p:cNvSpPr/>
          <p:nvPr/>
        </p:nvSpPr>
        <p:spPr>
          <a:xfrm>
            <a:off x="685800" y="6400800"/>
            <a:ext cx="182484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a1a1aa"/>
                </a:solidFill>
                <a:latin typeface="Open Sans"/>
                <a:ea typeface="Open Sans"/>
              </a:rPr>
              <a:t>Raising Seed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"/>
          <p:cNvSpPr/>
          <p:nvPr/>
        </p:nvSpPr>
        <p:spPr>
          <a:xfrm>
            <a:off x="685800" y="411480"/>
            <a:ext cx="5025240" cy="68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Poppins"/>
                <a:ea typeface="Poppins"/>
              </a:rPr>
              <a:t>The Problem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4"/>
          <p:cNvSpPr/>
          <p:nvPr/>
        </p:nvSpPr>
        <p:spPr>
          <a:xfrm>
            <a:off x="685800" y="1097280"/>
            <a:ext cx="5025240" cy="81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700" spc="-1" strike="noStrike">
                <a:solidFill>
                  <a:srgbClr val="a1a1aa"/>
                </a:solidFill>
                <a:latin typeface="Open Sans"/>
                <a:ea typeface="Open Sans"/>
              </a:rPr>
              <a:t>Friction Kills Conversion Before the First Match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0"/>
          <p:cNvSpPr/>
          <p:nvPr/>
        </p:nvSpPr>
        <p:spPr>
          <a:xfrm>
            <a:off x="900000" y="2377440"/>
            <a:ext cx="3197880" cy="819720"/>
          </a:xfrm>
          <a:prstGeom prst="roundRect">
            <a:avLst>
              <a:gd name="adj" fmla="val 16667"/>
            </a:avLst>
          </a:prstGeom>
          <a:solidFill>
            <a:srgbClr val="151b2e"/>
          </a:solidFill>
          <a:ln w="12700">
            <a:solidFill>
              <a:srgbClr val="facc1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facc15"/>
                </a:solidFill>
                <a:latin typeface="Poppins"/>
                <a:ea typeface="Poppins"/>
              </a:rPr>
              <a:t>App installs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a1a1aa"/>
                </a:solidFill>
                <a:latin typeface="Open Sans"/>
                <a:ea typeface="Open Sans"/>
              </a:rPr>
              <a:t>Massive drop-off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1"/>
          <p:cNvSpPr/>
          <p:nvPr/>
        </p:nvSpPr>
        <p:spPr>
          <a:xfrm>
            <a:off x="4500000" y="2377440"/>
            <a:ext cx="2397960" cy="819720"/>
          </a:xfrm>
          <a:prstGeom prst="roundRect">
            <a:avLst>
              <a:gd name="adj" fmla="val 16667"/>
            </a:avLst>
          </a:prstGeom>
          <a:solidFill>
            <a:srgbClr val="151b2e"/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ec4899"/>
                </a:solidFill>
                <a:latin typeface="Poppins"/>
                <a:ea typeface="Poppins"/>
              </a:rPr>
              <a:t>Sign-ups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a1a1aa"/>
                </a:solidFill>
                <a:latin typeface="Open Sans"/>
                <a:ea typeface="Open Sans"/>
              </a:rPr>
              <a:t>Slow onboarding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2"/>
          <p:cNvSpPr/>
          <p:nvPr/>
        </p:nvSpPr>
        <p:spPr>
          <a:xfrm>
            <a:off x="7650000" y="2377800"/>
            <a:ext cx="1797840" cy="819720"/>
          </a:xfrm>
          <a:prstGeom prst="roundRect">
            <a:avLst>
              <a:gd name="adj" fmla="val 16667"/>
            </a:avLst>
          </a:prstGeom>
          <a:solidFill>
            <a:srgbClr val="151b2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22c55e"/>
                </a:solidFill>
                <a:latin typeface="Poppins"/>
                <a:ea typeface="Poppins"/>
              </a:rPr>
              <a:t>Payments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a1a1aa"/>
                </a:solidFill>
                <a:latin typeface="Open Sans"/>
                <a:ea typeface="Open Sans"/>
              </a:rPr>
              <a:t>Confusing setup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20"/>
          <p:cNvSpPr/>
          <p:nvPr/>
        </p:nvSpPr>
        <p:spPr>
          <a:xfrm>
            <a:off x="822960" y="4754880"/>
            <a:ext cx="5347440" cy="50148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Poppins"/>
                <a:ea typeface="Poppins"/>
              </a:rPr>
              <a:t>Every extra step increases CAC and lowers retention.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90"/>
          <p:cNvSpPr/>
          <p:nvPr/>
        </p:nvSpPr>
        <p:spPr>
          <a:xfrm>
            <a:off x="685800" y="6400800"/>
            <a:ext cx="296928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a1a1aa"/>
                </a:solidFill>
                <a:latin typeface="Open Sans"/>
                <a:ea typeface="Open Sans"/>
              </a:rPr>
              <a:t>Speed to first play wins.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"/>
          <p:cNvSpPr/>
          <p:nvPr/>
        </p:nvSpPr>
        <p:spPr>
          <a:xfrm>
            <a:off x="685800" y="411480"/>
            <a:ext cx="5713200" cy="68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Poppins"/>
                <a:ea typeface="Poppins"/>
              </a:rPr>
              <a:t>The Solution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5"/>
          <p:cNvSpPr/>
          <p:nvPr/>
        </p:nvSpPr>
        <p:spPr>
          <a:xfrm>
            <a:off x="685800" y="4114800"/>
            <a:ext cx="4342680" cy="63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acc15"/>
                </a:solidFill>
                <a:latin typeface="Poppins"/>
                <a:ea typeface="Poppins"/>
              </a:rPr>
              <a:t>Instant-play gaming inside Telegram.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10"/>
          <p:cNvSpPr/>
          <p:nvPr/>
        </p:nvSpPr>
        <p:spPr>
          <a:xfrm>
            <a:off x="2971800" y="2882160"/>
            <a:ext cx="1962000" cy="545400"/>
          </a:xfrm>
          <a:prstGeom prst="roundRect">
            <a:avLst>
              <a:gd name="adj" fmla="val 16667"/>
            </a:avLst>
          </a:prstGeom>
          <a:solidFill>
            <a:srgbClr val="151b2e"/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Poppins"/>
                <a:ea typeface="Poppins"/>
              </a:rPr>
              <a:t>Open chat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11"/>
          <p:cNvSpPr/>
          <p:nvPr/>
        </p:nvSpPr>
        <p:spPr>
          <a:xfrm>
            <a:off x="5029200" y="2882160"/>
            <a:ext cx="1870560" cy="545400"/>
          </a:xfrm>
          <a:prstGeom prst="roundRect">
            <a:avLst>
              <a:gd name="adj" fmla="val 16667"/>
            </a:avLst>
          </a:prstGeom>
          <a:solidFill>
            <a:srgbClr val="151b2e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Poppins"/>
                <a:ea typeface="Poppins"/>
              </a:rPr>
              <a:t>Launch Mini App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Shape 12"/>
          <p:cNvSpPr/>
          <p:nvPr/>
        </p:nvSpPr>
        <p:spPr>
          <a:xfrm>
            <a:off x="7088400" y="2882160"/>
            <a:ext cx="1368360" cy="545400"/>
          </a:xfrm>
          <a:prstGeom prst="roundRect">
            <a:avLst>
              <a:gd name="adj" fmla="val 16667"/>
            </a:avLst>
          </a:prstGeom>
          <a:solidFill>
            <a:srgbClr val="151b2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Poppins"/>
                <a:ea typeface="Poppins"/>
              </a:rPr>
              <a:t>Tap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90"/>
          <p:cNvSpPr/>
          <p:nvPr/>
        </p:nvSpPr>
        <p:spPr>
          <a:xfrm>
            <a:off x="685800" y="6400800"/>
            <a:ext cx="182484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a1a1aa"/>
                </a:solidFill>
                <a:latin typeface="Open Sans"/>
                <a:ea typeface="Open Sans"/>
              </a:rPr>
              <a:t>Play -&gt; Compete -&gt; Win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4"/>
          <p:cNvSpPr/>
          <p:nvPr/>
        </p:nvSpPr>
        <p:spPr>
          <a:xfrm>
            <a:off x="685800" y="1325880"/>
            <a:ext cx="5025240" cy="24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750" spc="-1" strike="noStrike">
                <a:solidFill>
                  <a:srgbClr val="a1a1aa"/>
                </a:solidFill>
                <a:latin typeface="Open Sans"/>
                <a:ea typeface="Open Sans"/>
              </a:rPr>
              <a:t>Real-time bingo and keno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750" spc="-1" strike="noStrike">
                <a:solidFill>
                  <a:srgbClr val="a1a1aa"/>
                </a:solidFill>
                <a:latin typeface="Open Sans"/>
                <a:ea typeface="Open Sans"/>
              </a:rPr>
              <a:t>Instant wallet payouts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750" spc="-1" strike="noStrike">
                <a:solidFill>
                  <a:srgbClr val="a1a1aa"/>
                </a:solidFill>
                <a:latin typeface="Open Sans"/>
                <a:ea typeface="Open Sans"/>
              </a:rPr>
              <a:t>No download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750" spc="-1" strike="noStrike">
                <a:solidFill>
                  <a:srgbClr val="a1a1aa"/>
                </a:solidFill>
                <a:latin typeface="Open Sans"/>
                <a:ea typeface="Open Sans"/>
              </a:rPr>
              <a:t>No separate account setup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5" name="Picture 35" descr=""/>
          <p:cNvPicPr/>
          <p:nvPr/>
        </p:nvPicPr>
        <p:blipFill>
          <a:blip r:embed="rId1"/>
          <a:stretch/>
        </p:blipFill>
        <p:spPr>
          <a:xfrm>
            <a:off x="9144000" y="1079640"/>
            <a:ext cx="2098080" cy="4176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2"/>
          <p:cNvSpPr/>
          <p:nvPr/>
        </p:nvSpPr>
        <p:spPr>
          <a:xfrm>
            <a:off x="685800" y="411480"/>
            <a:ext cx="5025240" cy="68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Poppins"/>
                <a:ea typeface="Poppins"/>
              </a:rPr>
              <a:t>Product Overview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4"/>
          <p:cNvSpPr/>
          <p:nvPr/>
        </p:nvSpPr>
        <p:spPr>
          <a:xfrm>
            <a:off x="685800" y="1234440"/>
            <a:ext cx="4933800" cy="10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50" spc="-1" strike="noStrike">
                <a:solidFill>
                  <a:srgbClr val="a1a1aa"/>
                </a:solidFill>
                <a:latin typeface="Open Sans"/>
                <a:ea typeface="Open Sans"/>
              </a:rPr>
              <a:t>Real-Time Multiplayer Interface Built for Social Play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8" name="Picture 5" descr=""/>
          <p:cNvPicPr/>
          <p:nvPr/>
        </p:nvPicPr>
        <p:blipFill>
          <a:blip r:embed="rId1"/>
          <a:stretch/>
        </p:blipFill>
        <p:spPr>
          <a:xfrm>
            <a:off x="6540120" y="759960"/>
            <a:ext cx="2197800" cy="4347720"/>
          </a:xfrm>
          <a:prstGeom prst="rect">
            <a:avLst/>
          </a:prstGeom>
          <a:ln w="0">
            <a:noFill/>
          </a:ln>
        </p:spPr>
      </p:pic>
      <p:pic>
        <p:nvPicPr>
          <p:cNvPr id="39" name="Picture 6" descr=""/>
          <p:cNvPicPr/>
          <p:nvPr/>
        </p:nvPicPr>
        <p:blipFill>
          <a:blip r:embed="rId2"/>
          <a:stretch/>
        </p:blipFill>
        <p:spPr>
          <a:xfrm>
            <a:off x="8899920" y="759960"/>
            <a:ext cx="2197800" cy="4347720"/>
          </a:xfrm>
          <a:prstGeom prst="rect">
            <a:avLst/>
          </a:prstGeom>
          <a:ln w="0">
            <a:noFill/>
          </a:ln>
        </p:spPr>
      </p:pic>
      <p:sp>
        <p:nvSpPr>
          <p:cNvPr id="40" name="Shape 10"/>
          <p:cNvSpPr/>
          <p:nvPr/>
        </p:nvSpPr>
        <p:spPr>
          <a:xfrm>
            <a:off x="685800" y="2012040"/>
            <a:ext cx="2510640" cy="727560"/>
          </a:xfrm>
          <a:prstGeom prst="roundRect">
            <a:avLst>
              <a:gd name="adj" fmla="val 16667"/>
            </a:avLst>
          </a:prstGeom>
          <a:solidFill>
            <a:srgbClr val="151b2e"/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Poppins"/>
                <a:ea typeface="Poppins"/>
              </a:rPr>
              <a:t>Join live bingo and keno rooms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11"/>
          <p:cNvSpPr/>
          <p:nvPr/>
        </p:nvSpPr>
        <p:spPr>
          <a:xfrm>
            <a:off x="3429360" y="2012040"/>
            <a:ext cx="2510640" cy="727560"/>
          </a:xfrm>
          <a:prstGeom prst="roundRect">
            <a:avLst>
              <a:gd name="adj" fmla="val 16667"/>
            </a:avLst>
          </a:prstGeom>
          <a:solidFill>
            <a:srgbClr val="151b2e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Poppins"/>
                <a:ea typeface="Poppins"/>
              </a:rPr>
              <a:t>Track gameplay, rooms, and payouts live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12"/>
          <p:cNvSpPr/>
          <p:nvPr/>
        </p:nvSpPr>
        <p:spPr>
          <a:xfrm>
            <a:off x="685800" y="3155040"/>
            <a:ext cx="2510640" cy="727560"/>
          </a:xfrm>
          <a:prstGeom prst="roundRect">
            <a:avLst>
              <a:gd name="adj" fmla="val 16667"/>
            </a:avLst>
          </a:prstGeom>
          <a:solidFill>
            <a:srgbClr val="151b2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Poppins"/>
                <a:ea typeface="Poppins"/>
              </a:rPr>
              <a:t>Play short, repeatable sessions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Shape 13"/>
          <p:cNvSpPr/>
          <p:nvPr/>
        </p:nvSpPr>
        <p:spPr>
          <a:xfrm>
            <a:off x="3429360" y="3155040"/>
            <a:ext cx="2510640" cy="727560"/>
          </a:xfrm>
          <a:prstGeom prst="roundRect">
            <a:avLst>
              <a:gd name="adj" fmla="val 16667"/>
            </a:avLst>
          </a:prstGeom>
          <a:solidFill>
            <a:srgbClr val="151b2e"/>
          </a:solidFill>
          <a:ln w="12700">
            <a:solidFill>
              <a:srgbClr val="facc1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Poppins"/>
                <a:ea typeface="Poppins"/>
              </a:rPr>
              <a:t>Re-enter through chat and invites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Shape 90"/>
          <p:cNvSpPr/>
          <p:nvPr/>
        </p:nvSpPr>
        <p:spPr>
          <a:xfrm>
            <a:off x="685800" y="6400800"/>
            <a:ext cx="251172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a1a1aa"/>
                </a:solidFill>
                <a:latin typeface="Open Sans"/>
                <a:ea typeface="Open Sans"/>
              </a:rPr>
              <a:t>Built for Telegram-native play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Shape 20"/>
          <p:cNvSpPr/>
          <p:nvPr/>
        </p:nvSpPr>
        <p:spPr>
          <a:xfrm>
            <a:off x="685800" y="4617720"/>
            <a:ext cx="5299560" cy="63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50" spc="-1" strike="noStrike">
                <a:solidFill>
                  <a:srgbClr val="ffffff"/>
                </a:solidFill>
                <a:latin typeface="Poppins"/>
                <a:ea typeface="Poppins"/>
              </a:rPr>
              <a:t>Built for mobile-first users who already play, share, and pay.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"/>
          <p:cNvSpPr/>
          <p:nvPr/>
        </p:nvSpPr>
        <p:spPr>
          <a:xfrm>
            <a:off x="685800" y="411480"/>
            <a:ext cx="5025240" cy="68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Poppins"/>
                <a:ea typeface="Poppins"/>
              </a:rPr>
              <a:t>Key Features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Shape 10"/>
          <p:cNvSpPr/>
          <p:nvPr/>
        </p:nvSpPr>
        <p:spPr>
          <a:xfrm rot="21561600">
            <a:off x="689400" y="2055240"/>
            <a:ext cx="2511000" cy="915840"/>
          </a:xfrm>
          <a:prstGeom prst="roundRect">
            <a:avLst>
              <a:gd name="adj" fmla="val 16667"/>
            </a:avLst>
          </a:prstGeom>
          <a:solidFill>
            <a:srgbClr val="151b2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50" spc="-1" strike="noStrike">
                <a:solidFill>
                  <a:srgbClr val="22c55e"/>
                </a:solidFill>
                <a:latin typeface="Poppins"/>
                <a:ea typeface="Poppins"/>
              </a:rPr>
              <a:t>Live multiplayer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50" spc="-1" strike="noStrike">
                <a:solidFill>
                  <a:srgbClr val="a1a1aa"/>
                </a:solidFill>
                <a:latin typeface="Open Sans"/>
                <a:ea typeface="Open Sans"/>
              </a:rPr>
              <a:t>Real-time urgency and retention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Shape 11"/>
          <p:cNvSpPr/>
          <p:nvPr/>
        </p:nvSpPr>
        <p:spPr>
          <a:xfrm>
            <a:off x="3657600" y="2057400"/>
            <a:ext cx="2511000" cy="913680"/>
          </a:xfrm>
          <a:prstGeom prst="roundRect">
            <a:avLst>
              <a:gd name="adj" fmla="val 16667"/>
            </a:avLst>
          </a:prstGeom>
          <a:solidFill>
            <a:srgbClr val="151b2e"/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50" spc="-1" strike="noStrike">
                <a:solidFill>
                  <a:srgbClr val="ec4899"/>
                </a:solidFill>
                <a:latin typeface="Poppins"/>
                <a:ea typeface="Poppins"/>
              </a:rPr>
              <a:t>Tournaments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50" spc="-1" strike="noStrike">
                <a:solidFill>
                  <a:srgbClr val="a1a1aa"/>
                </a:solidFill>
                <a:latin typeface="Open Sans"/>
                <a:ea typeface="Open Sans"/>
              </a:rPr>
              <a:t>Higher spend per user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Shape 12"/>
          <p:cNvSpPr/>
          <p:nvPr/>
        </p:nvSpPr>
        <p:spPr>
          <a:xfrm>
            <a:off x="686160" y="3200400"/>
            <a:ext cx="2511000" cy="913680"/>
          </a:xfrm>
          <a:prstGeom prst="roundRect">
            <a:avLst>
              <a:gd name="adj" fmla="val 16667"/>
            </a:avLst>
          </a:prstGeom>
          <a:solidFill>
            <a:srgbClr val="151b2e"/>
          </a:solidFill>
          <a:ln w="12700">
            <a:solidFill>
              <a:srgbClr val="facc1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50" spc="-1" strike="noStrike">
                <a:solidFill>
                  <a:srgbClr val="facc15"/>
                </a:solidFill>
                <a:latin typeface="Poppins"/>
                <a:ea typeface="Poppins"/>
              </a:rPr>
              <a:t>In-app wallet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50" spc="-1" strike="noStrike">
                <a:solidFill>
                  <a:srgbClr val="a1a1aa"/>
                </a:solidFill>
                <a:latin typeface="Open Sans"/>
                <a:ea typeface="Open Sans"/>
              </a:rPr>
              <a:t>Simple deposits, balances, and payouts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Shape 13"/>
          <p:cNvSpPr/>
          <p:nvPr/>
        </p:nvSpPr>
        <p:spPr>
          <a:xfrm>
            <a:off x="3657960" y="3200400"/>
            <a:ext cx="2511000" cy="913680"/>
          </a:xfrm>
          <a:prstGeom prst="roundRect">
            <a:avLst>
              <a:gd name="adj" fmla="val 16667"/>
            </a:avLst>
          </a:prstGeom>
          <a:solidFill>
            <a:srgbClr val="151b2e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50" spc="-1" strike="noStrike">
                <a:solidFill>
                  <a:srgbClr val="06b6d4"/>
                </a:solidFill>
                <a:latin typeface="Poppins"/>
                <a:ea typeface="Poppins"/>
              </a:rPr>
              <a:t>Social invites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50" spc="-1" strike="noStrike">
                <a:solidFill>
                  <a:srgbClr val="a1a1aa"/>
                </a:solidFill>
                <a:latin typeface="Open Sans"/>
                <a:ea typeface="Open Sans"/>
              </a:rPr>
              <a:t>Viral growth loops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1" name="Picture 30" descr=""/>
          <p:cNvPicPr/>
          <p:nvPr/>
        </p:nvPicPr>
        <p:blipFill>
          <a:blip r:embed="rId1"/>
          <a:stretch/>
        </p:blipFill>
        <p:spPr>
          <a:xfrm>
            <a:off x="7086600" y="1143000"/>
            <a:ext cx="2053800" cy="4111200"/>
          </a:xfrm>
          <a:prstGeom prst="rect">
            <a:avLst/>
          </a:prstGeom>
          <a:ln w="0">
            <a:noFill/>
          </a:ln>
        </p:spPr>
      </p:pic>
      <p:pic>
        <p:nvPicPr>
          <p:cNvPr id="52" name="Picture 31" descr=""/>
          <p:cNvPicPr/>
          <p:nvPr/>
        </p:nvPicPr>
        <p:blipFill>
          <a:blip r:embed="rId2"/>
          <a:stretch/>
        </p:blipFill>
        <p:spPr>
          <a:xfrm>
            <a:off x="9601200" y="1143000"/>
            <a:ext cx="2053800" cy="4111200"/>
          </a:xfrm>
          <a:prstGeom prst="rect">
            <a:avLst/>
          </a:prstGeom>
          <a:ln w="0">
            <a:noFill/>
          </a:ln>
        </p:spPr>
      </p:pic>
      <p:sp>
        <p:nvSpPr>
          <p:cNvPr id="53" name="Shape 32"/>
          <p:cNvSpPr/>
          <p:nvPr/>
        </p:nvSpPr>
        <p:spPr>
          <a:xfrm>
            <a:off x="685800" y="5897880"/>
            <a:ext cx="6170400" cy="40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facc15"/>
                </a:solidFill>
                <a:latin typeface="Poppins"/>
                <a:ea typeface="Poppins"/>
              </a:rPr>
              <a:t>Each feature improves acquisition, retention, or monetization.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Shape 90"/>
          <p:cNvSpPr/>
          <p:nvPr/>
        </p:nvSpPr>
        <p:spPr>
          <a:xfrm>
            <a:off x="685800" y="6400800"/>
            <a:ext cx="182484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a1a1aa"/>
                </a:solidFill>
                <a:latin typeface="Open Sans"/>
                <a:ea typeface="Open Sans"/>
              </a:rPr>
              <a:t>Bingo Game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2"/>
          <p:cNvSpPr/>
          <p:nvPr/>
        </p:nvSpPr>
        <p:spPr>
          <a:xfrm>
            <a:off x="685800" y="411480"/>
            <a:ext cx="5025240" cy="68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Poppins"/>
                <a:ea typeface="Poppins"/>
              </a:rPr>
              <a:t>Target Audience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Shape 10"/>
          <p:cNvSpPr/>
          <p:nvPr/>
        </p:nvSpPr>
        <p:spPr>
          <a:xfrm>
            <a:off x="869400" y="2286000"/>
            <a:ext cx="2784960" cy="865440"/>
          </a:xfrm>
          <a:prstGeom prst="roundRect">
            <a:avLst>
              <a:gd name="adj" fmla="val 16667"/>
            </a:avLst>
          </a:prstGeom>
          <a:solidFill>
            <a:srgbClr val="151b2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50" spc="-1" strike="noStrike">
                <a:solidFill>
                  <a:srgbClr val="ffffff"/>
                </a:solidFill>
                <a:latin typeface="Poppins"/>
                <a:ea typeface="Poppins"/>
              </a:rPr>
              <a:t>Telegram power users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a1a1aa"/>
                </a:solidFill>
                <a:latin typeface="Open Sans"/>
                <a:ea typeface="Open Sans"/>
              </a:rPr>
              <a:t>Discover, share, and transact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Shape 11"/>
          <p:cNvSpPr/>
          <p:nvPr/>
        </p:nvSpPr>
        <p:spPr>
          <a:xfrm>
            <a:off x="4069800" y="2286000"/>
            <a:ext cx="2784960" cy="865440"/>
          </a:xfrm>
          <a:prstGeom prst="roundRect">
            <a:avLst>
              <a:gd name="adj" fmla="val 16667"/>
            </a:avLst>
          </a:prstGeom>
          <a:solidFill>
            <a:srgbClr val="151b2e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50" spc="-1" strike="noStrike">
                <a:solidFill>
                  <a:srgbClr val="ffffff"/>
                </a:solidFill>
                <a:latin typeface="Poppins"/>
                <a:ea typeface="Poppins"/>
              </a:rPr>
              <a:t>Casual gamers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a1a1aa"/>
                </a:solidFill>
                <a:latin typeface="Open Sans"/>
                <a:ea typeface="Open Sans"/>
              </a:rPr>
              <a:t>Fast, repeatable fun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Shape 12"/>
          <p:cNvSpPr/>
          <p:nvPr/>
        </p:nvSpPr>
        <p:spPr>
          <a:xfrm>
            <a:off x="7269480" y="2286000"/>
            <a:ext cx="3016440" cy="865440"/>
          </a:xfrm>
          <a:prstGeom prst="roundRect">
            <a:avLst>
              <a:gd name="adj" fmla="val 16667"/>
            </a:avLst>
          </a:prstGeom>
          <a:solidFill>
            <a:srgbClr val="151b2e"/>
          </a:solidFill>
          <a:ln w="12700">
            <a:solidFill>
              <a:srgbClr val="facc1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50" spc="-1" strike="noStrike">
                <a:solidFill>
                  <a:srgbClr val="ffffff"/>
                </a:solidFill>
                <a:latin typeface="Poppins"/>
                <a:ea typeface="Poppins"/>
              </a:rPr>
              <a:t>Social gaming communities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a1a1aa"/>
                </a:solidFill>
                <a:latin typeface="Open Sans"/>
                <a:ea typeface="Open Sans"/>
              </a:rPr>
              <a:t>Mobile-first spenders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Shape 20"/>
          <p:cNvSpPr/>
          <p:nvPr/>
        </p:nvSpPr>
        <p:spPr>
          <a:xfrm>
            <a:off x="685800" y="4709160"/>
            <a:ext cx="5713200" cy="63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50" spc="-1" strike="noStrike">
                <a:solidFill>
                  <a:srgbClr val="ec4899"/>
                </a:solidFill>
                <a:latin typeface="Poppins"/>
                <a:ea typeface="Poppins"/>
              </a:rPr>
              <a:t>Targets: CAC &lt; $1.50, D1 &gt; 35%, D7 &gt; 15%, payer conversion &gt; 6%, wallet attach &gt; 40%.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Shape 90"/>
          <p:cNvSpPr/>
          <p:nvPr/>
        </p:nvSpPr>
        <p:spPr>
          <a:xfrm>
            <a:off x="685800" y="6400800"/>
            <a:ext cx="182484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a1a1aa"/>
                </a:solidFill>
                <a:latin typeface="Open Sans"/>
                <a:ea typeface="Open Sans"/>
              </a:rPr>
              <a:t>Bingo Game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2"/>
          <p:cNvSpPr/>
          <p:nvPr/>
        </p:nvSpPr>
        <p:spPr>
          <a:xfrm>
            <a:off x="685800" y="411480"/>
            <a:ext cx="5025240" cy="68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Poppins"/>
                <a:ea typeface="Poppins"/>
              </a:rPr>
              <a:t>Market Opportunity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Shape 4"/>
          <p:cNvSpPr/>
          <p:nvPr/>
        </p:nvSpPr>
        <p:spPr>
          <a:xfrm>
            <a:off x="685800" y="1463040"/>
            <a:ext cx="4933800" cy="20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50" spc="-1" strike="noStrike">
                <a:solidFill>
                  <a:srgbClr val="a1a1aa"/>
                </a:solidFill>
                <a:latin typeface="Open Sans"/>
                <a:ea typeface="Open Sans"/>
              </a:rPr>
              <a:t>• </a:t>
            </a:r>
            <a:r>
              <a:rPr b="0" lang="en-US" sz="1550" spc="-1" strike="noStrike">
                <a:solidFill>
                  <a:srgbClr val="a1a1aa"/>
                </a:solidFill>
                <a:latin typeface="Open Sans"/>
                <a:ea typeface="Open Sans"/>
              </a:rPr>
              <a:t>TAM: $180B+ global mobile gaming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50" spc="-1" strike="noStrike">
                <a:solidFill>
                  <a:srgbClr val="a1a1aa"/>
                </a:solidFill>
                <a:latin typeface="Open Sans"/>
                <a:ea typeface="Open Sans"/>
              </a:rPr>
              <a:t>• </a:t>
            </a:r>
            <a:r>
              <a:rPr b="0" lang="en-US" sz="1550" spc="-1" strike="noStrike">
                <a:solidFill>
                  <a:srgbClr val="a1a1aa"/>
                </a:solidFill>
                <a:latin typeface="Open Sans"/>
                <a:ea typeface="Open Sans"/>
              </a:rPr>
              <a:t>SAM: 90M+ Telegram users in launch geos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50" spc="-1" strike="noStrike">
                <a:solidFill>
                  <a:srgbClr val="a1a1aa"/>
                </a:solidFill>
                <a:latin typeface="Open Sans"/>
                <a:ea typeface="Open Sans"/>
              </a:rPr>
              <a:t>• </a:t>
            </a:r>
            <a:r>
              <a:rPr b="0" lang="en-US" sz="1550" spc="-1" strike="noStrike">
                <a:solidFill>
                  <a:srgbClr val="a1a1aa"/>
                </a:solidFill>
                <a:latin typeface="Open Sans"/>
                <a:ea typeface="Open Sans"/>
              </a:rPr>
              <a:t>SOM: 1.5M reachable players in year 1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Shape 10"/>
          <p:cNvSpPr/>
          <p:nvPr/>
        </p:nvSpPr>
        <p:spPr>
          <a:xfrm>
            <a:off x="7315200" y="2011680"/>
            <a:ext cx="727560" cy="24649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4" name="Shape 20"/>
          <p:cNvSpPr/>
          <p:nvPr/>
        </p:nvSpPr>
        <p:spPr>
          <a:xfrm>
            <a:off x="7178040" y="4663440"/>
            <a:ext cx="1001880" cy="5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Open Sans"/>
                <a:ea typeface="Open Sans"/>
              </a:rPr>
              <a:t>TAM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Shape 11"/>
          <p:cNvSpPr/>
          <p:nvPr/>
        </p:nvSpPr>
        <p:spPr>
          <a:xfrm>
            <a:off x="8458200" y="2651760"/>
            <a:ext cx="727560" cy="18248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6" name="Shape 21"/>
          <p:cNvSpPr/>
          <p:nvPr/>
        </p:nvSpPr>
        <p:spPr>
          <a:xfrm>
            <a:off x="8321040" y="4663440"/>
            <a:ext cx="1001880" cy="5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Open Sans"/>
                <a:ea typeface="Open Sans"/>
              </a:rPr>
              <a:t>SAM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Shape 12"/>
          <p:cNvSpPr/>
          <p:nvPr/>
        </p:nvSpPr>
        <p:spPr>
          <a:xfrm>
            <a:off x="9601200" y="3200400"/>
            <a:ext cx="727560" cy="1276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8" name="Shape 22"/>
          <p:cNvSpPr/>
          <p:nvPr/>
        </p:nvSpPr>
        <p:spPr>
          <a:xfrm>
            <a:off x="9464040" y="4663440"/>
            <a:ext cx="1001880" cy="5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Open Sans"/>
                <a:ea typeface="Open Sans"/>
              </a:rPr>
              <a:t>SOM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Shape 40"/>
          <p:cNvSpPr/>
          <p:nvPr/>
        </p:nvSpPr>
        <p:spPr>
          <a:xfrm>
            <a:off x="685800" y="4572000"/>
            <a:ext cx="5939640" cy="59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Open Sans"/>
                <a:ea typeface="Open Sans"/>
              </a:rPr>
              <a:t>Focus markets: Ethiopia, Nigeria, Kenya, South Africa, India, and Brazil where chat, mobile pay, and casual gaming overlap.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Shape 41"/>
          <p:cNvSpPr/>
          <p:nvPr/>
        </p:nvSpPr>
        <p:spPr>
          <a:xfrm>
            <a:off x="685800" y="5230440"/>
            <a:ext cx="5756760" cy="49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50" spc="-1" strike="noStrike">
                <a:solidFill>
                  <a:srgbClr val="facc15"/>
                </a:solidFill>
                <a:latin typeface="Poppins"/>
                <a:ea typeface="Poppins"/>
              </a:rPr>
              <a:t>Why now: Mini Apps convert Telegram community traffic into first paid play in under 60 seconds.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Shape 90"/>
          <p:cNvSpPr/>
          <p:nvPr/>
        </p:nvSpPr>
        <p:spPr>
          <a:xfrm>
            <a:off x="685800" y="5943600"/>
            <a:ext cx="479880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a1a1aa"/>
                </a:solidFill>
                <a:latin typeface="Open Sans"/>
                <a:ea typeface="Open Sans"/>
              </a:rPr>
              <a:t>We start with high-engagement communities, then expand into adjacent geos and new game modes.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2"/>
          <p:cNvSpPr/>
          <p:nvPr/>
        </p:nvSpPr>
        <p:spPr>
          <a:xfrm>
            <a:off x="685800" y="411480"/>
            <a:ext cx="5025240" cy="68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Poppins"/>
                <a:ea typeface="Poppins"/>
              </a:rPr>
              <a:t>Business Model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Shape 10"/>
          <p:cNvSpPr/>
          <p:nvPr/>
        </p:nvSpPr>
        <p:spPr>
          <a:xfrm>
            <a:off x="2514600" y="1600200"/>
            <a:ext cx="4340160" cy="682560"/>
          </a:xfrm>
          <a:prstGeom prst="roundRect">
            <a:avLst>
              <a:gd name="adj" fmla="val 16667"/>
            </a:avLst>
          </a:prstGeom>
          <a:solidFill>
            <a:srgbClr val="151b2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50" spc="-1" strike="noStrike">
                <a:solidFill>
                  <a:srgbClr val="ffffff"/>
                </a:solidFill>
                <a:latin typeface="Poppins"/>
                <a:ea typeface="Poppins"/>
              </a:rPr>
              <a:t>$1-$3 entry fees + 10%-15% rake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Shape 11"/>
          <p:cNvSpPr/>
          <p:nvPr/>
        </p:nvSpPr>
        <p:spPr>
          <a:xfrm>
            <a:off x="2514600" y="2514600"/>
            <a:ext cx="4340160" cy="682560"/>
          </a:xfrm>
          <a:prstGeom prst="roundRect">
            <a:avLst>
              <a:gd name="adj" fmla="val 16667"/>
            </a:avLst>
          </a:prstGeom>
          <a:solidFill>
            <a:srgbClr val="151b2e"/>
          </a:solidFill>
          <a:ln w="12700">
            <a:solidFill>
              <a:srgbClr val="facc1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50" spc="-1" strike="noStrike">
                <a:solidFill>
                  <a:srgbClr val="ffffff"/>
                </a:solidFill>
                <a:latin typeface="Poppins"/>
                <a:ea typeface="Poppins"/>
              </a:rPr>
              <a:t>$0.50-$2 boosts and extra cards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Shape 12"/>
          <p:cNvSpPr/>
          <p:nvPr/>
        </p:nvSpPr>
        <p:spPr>
          <a:xfrm>
            <a:off x="2514600" y="3429000"/>
            <a:ext cx="4340160" cy="682560"/>
          </a:xfrm>
          <a:prstGeom prst="roundRect">
            <a:avLst>
              <a:gd name="adj" fmla="val 16667"/>
            </a:avLst>
          </a:prstGeom>
          <a:solidFill>
            <a:srgbClr val="151b2e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50" spc="-1" strike="noStrike">
                <a:solidFill>
                  <a:srgbClr val="ffffff"/>
                </a:solidFill>
                <a:latin typeface="Poppins"/>
                <a:ea typeface="Poppins"/>
              </a:rPr>
              <a:t>3%-5% net wallet spread on top-ups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Shape 13"/>
          <p:cNvSpPr/>
          <p:nvPr/>
        </p:nvSpPr>
        <p:spPr>
          <a:xfrm>
            <a:off x="2514600" y="4343400"/>
            <a:ext cx="4340160" cy="682560"/>
          </a:xfrm>
          <a:prstGeom prst="roundRect">
            <a:avLst>
              <a:gd name="adj" fmla="val 16667"/>
            </a:avLst>
          </a:prstGeom>
          <a:solidFill>
            <a:srgbClr val="151b2e"/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50" spc="-1" strike="noStrike">
                <a:solidFill>
                  <a:srgbClr val="ffffff"/>
                </a:solidFill>
                <a:latin typeface="Poppins"/>
                <a:ea typeface="Poppins"/>
              </a:rPr>
              <a:t>$4.99 VIP pass for power players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Shape 30"/>
          <p:cNvSpPr/>
          <p:nvPr/>
        </p:nvSpPr>
        <p:spPr>
          <a:xfrm>
            <a:off x="868680" y="5715000"/>
            <a:ext cx="7359120" cy="4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50" spc="-1" strike="noStrike">
                <a:solidFill>
                  <a:srgbClr val="facc15"/>
                </a:solidFill>
                <a:latin typeface="Poppins"/>
                <a:ea typeface="Poppins"/>
              </a:rPr>
              <a:t>Example: 1,000 paying users x 8 entries/month x $0.30 take = $2.4k net before upsells.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Shape 90"/>
          <p:cNvSpPr/>
          <p:nvPr/>
        </p:nvSpPr>
        <p:spPr>
          <a:xfrm>
            <a:off x="685800" y="6400800"/>
            <a:ext cx="182484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a1a1aa"/>
                </a:solidFill>
                <a:latin typeface="Open Sans"/>
                <a:ea typeface="Open Sans"/>
              </a:rPr>
              <a:t>Bingo Game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2"/>
          <p:cNvSpPr/>
          <p:nvPr/>
        </p:nvSpPr>
        <p:spPr>
          <a:xfrm>
            <a:off x="685800" y="411480"/>
            <a:ext cx="8229240" cy="68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Poppins"/>
                <a:ea typeface="Poppins"/>
              </a:rPr>
              <a:t>Competitive Advantage &amp; Go-To-Market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Shape 4"/>
          <p:cNvSpPr/>
          <p:nvPr/>
        </p:nvSpPr>
        <p:spPr>
          <a:xfrm>
            <a:off x="685800" y="1463040"/>
            <a:ext cx="5257440" cy="228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50" spc="-1" strike="noStrike">
                <a:solidFill>
                  <a:srgbClr val="a1a1aa"/>
                </a:solidFill>
                <a:latin typeface="Open Sans"/>
                <a:ea typeface="Open Sans"/>
              </a:rPr>
              <a:t>• </a:t>
            </a:r>
            <a:r>
              <a:rPr b="0" lang="en-US" sz="1550" spc="-1" strike="noStrike">
                <a:solidFill>
                  <a:srgbClr val="a1a1aa"/>
                </a:solidFill>
                <a:latin typeface="Open Sans"/>
                <a:ea typeface="Open Sans"/>
              </a:rPr>
              <a:t>Launch in Ethiopia, Nigeria, Kenya, South Africa, and India first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50" spc="-1" strike="noStrike">
                <a:solidFill>
                  <a:srgbClr val="a1a1aa"/>
                </a:solidFill>
                <a:latin typeface="Open Sans"/>
                <a:ea typeface="Open Sans"/>
              </a:rPr>
              <a:t>• </a:t>
            </a:r>
            <a:r>
              <a:rPr b="0" lang="en-US" sz="1550" spc="-1" strike="noStrike">
                <a:solidFill>
                  <a:srgbClr val="a1a1aa"/>
                </a:solidFill>
                <a:latin typeface="Open Sans"/>
                <a:ea typeface="Open Sans"/>
              </a:rPr>
              <a:t>Seed demand in Telegram gaming, rewards, prediction, and campus communities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50" spc="-1" strike="noStrike">
                <a:solidFill>
                  <a:srgbClr val="a1a1aa"/>
                </a:solidFill>
                <a:latin typeface="Open Sans"/>
                <a:ea typeface="Open Sans"/>
              </a:rPr>
              <a:t>• </a:t>
            </a:r>
            <a:r>
              <a:rPr b="0" lang="en-US" sz="1550" spc="-1" strike="noStrike">
                <a:solidFill>
                  <a:srgbClr val="a1a1aa"/>
                </a:solidFill>
                <a:latin typeface="Open Sans"/>
                <a:ea typeface="Open Sans"/>
              </a:rPr>
              <a:t>Creators and group admins get rev-share plus branded rooms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50" spc="-1" strike="noStrike">
                <a:solidFill>
                  <a:srgbClr val="a1a1aa"/>
                </a:solidFill>
                <a:latin typeface="Open Sans"/>
                <a:ea typeface="Open Sans"/>
              </a:rPr>
              <a:t>• </a:t>
            </a:r>
            <a:r>
              <a:rPr b="0" lang="en-US" sz="1550" spc="-1" strike="noStrike">
                <a:solidFill>
                  <a:srgbClr val="a1a1aa"/>
                </a:solidFill>
                <a:latin typeface="Open Sans"/>
                <a:ea typeface="Open Sans"/>
              </a:rPr>
              <a:t>Double-sided referral reward unlocks after the first paid session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Shape 10"/>
          <p:cNvSpPr/>
          <p:nvPr/>
        </p:nvSpPr>
        <p:spPr>
          <a:xfrm>
            <a:off x="685800" y="3745440"/>
            <a:ext cx="1599120" cy="685080"/>
          </a:xfrm>
          <a:prstGeom prst="roundRect">
            <a:avLst>
              <a:gd name="adj" fmla="val 16667"/>
            </a:avLst>
          </a:prstGeom>
          <a:solidFill>
            <a:srgbClr val="151b2e"/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Poppins"/>
                <a:ea typeface="Poppins"/>
              </a:rPr>
              <a:t>Telegram gaming communities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Shape 11"/>
          <p:cNvSpPr/>
          <p:nvPr/>
        </p:nvSpPr>
        <p:spPr>
          <a:xfrm>
            <a:off x="2606040" y="3745440"/>
            <a:ext cx="1736280" cy="685080"/>
          </a:xfrm>
          <a:prstGeom prst="roundRect">
            <a:avLst>
              <a:gd name="adj" fmla="val 16667"/>
            </a:avLst>
          </a:prstGeom>
          <a:solidFill>
            <a:srgbClr val="151b2e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Poppins"/>
                <a:ea typeface="Poppins"/>
              </a:rPr>
              <a:t>Micro-creators + group admins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Shape 12"/>
          <p:cNvSpPr/>
          <p:nvPr/>
        </p:nvSpPr>
        <p:spPr>
          <a:xfrm>
            <a:off x="4665240" y="3745440"/>
            <a:ext cx="1735200" cy="685080"/>
          </a:xfrm>
          <a:prstGeom prst="roundRect">
            <a:avLst>
              <a:gd name="adj" fmla="val 16667"/>
            </a:avLst>
          </a:prstGeom>
          <a:solidFill>
            <a:srgbClr val="151b2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Poppins"/>
                <a:ea typeface="Poppins"/>
              </a:rPr>
              <a:t>Double-sided wallet referrals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4" name="Picture 25" descr=""/>
          <p:cNvPicPr/>
          <p:nvPr/>
        </p:nvPicPr>
        <p:blipFill>
          <a:blip r:embed="rId1"/>
          <a:stretch/>
        </p:blipFill>
        <p:spPr>
          <a:xfrm>
            <a:off x="6861600" y="1600200"/>
            <a:ext cx="2282040" cy="4613760"/>
          </a:xfrm>
          <a:prstGeom prst="rect">
            <a:avLst/>
          </a:prstGeom>
          <a:ln w="0">
            <a:noFill/>
          </a:ln>
        </p:spPr>
      </p:pic>
      <p:pic>
        <p:nvPicPr>
          <p:cNvPr id="85" name="Picture 26" descr=""/>
          <p:cNvPicPr/>
          <p:nvPr/>
        </p:nvPicPr>
        <p:blipFill>
          <a:blip r:embed="rId2"/>
          <a:stretch/>
        </p:blipFill>
        <p:spPr>
          <a:xfrm>
            <a:off x="9372600" y="1603080"/>
            <a:ext cx="2282760" cy="4568760"/>
          </a:xfrm>
          <a:prstGeom prst="rect">
            <a:avLst/>
          </a:prstGeom>
          <a:ln w="0">
            <a:noFill/>
          </a:ln>
        </p:spPr>
      </p:pic>
      <p:sp>
        <p:nvSpPr>
          <p:cNvPr id="86" name="Shape 27"/>
          <p:cNvSpPr/>
          <p:nvPr/>
        </p:nvSpPr>
        <p:spPr>
          <a:xfrm>
            <a:off x="685800" y="4983480"/>
            <a:ext cx="3836520" cy="49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50" spc="-1" strike="noStrike">
                <a:solidFill>
                  <a:srgbClr val="facc15"/>
                </a:solidFill>
                <a:latin typeface="Poppins"/>
                <a:ea typeface="Poppins"/>
              </a:rPr>
              <a:t>Targets: CAC &lt; $1.50 by month 6 and LTV/CAC &gt; 3x in mature cohorts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Shape 28"/>
          <p:cNvSpPr/>
          <p:nvPr/>
        </p:nvSpPr>
        <p:spPr>
          <a:xfrm>
            <a:off x="685800" y="5532120"/>
            <a:ext cx="4750920" cy="544680"/>
          </a:xfrm>
          <a:prstGeom prst="roundRect">
            <a:avLst>
              <a:gd name="adj" fmla="val 16667"/>
            </a:avLst>
          </a:prstGeom>
          <a:solidFill>
            <a:srgbClr val="151b2e"/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50" spc="-1" strike="noStrike">
                <a:solidFill>
                  <a:srgbClr val="ffffff"/>
                </a:solidFill>
                <a:latin typeface="Open Sans"/>
                <a:ea typeface="Open Sans"/>
              </a:rPr>
              <a:t>Referral trigger: inviter and invitee each earn wallet credit after the first paid session.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Shape 90"/>
          <p:cNvSpPr/>
          <p:nvPr/>
        </p:nvSpPr>
        <p:spPr>
          <a:xfrm>
            <a:off x="685800" y="6400800"/>
            <a:ext cx="182484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a1a1aa"/>
                </a:solidFill>
                <a:latin typeface="Open Sans"/>
                <a:ea typeface="Open Sans"/>
              </a:rPr>
              <a:t>Bingo Game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2"/>
          <p:cNvSpPr/>
          <p:nvPr/>
        </p:nvSpPr>
        <p:spPr>
          <a:xfrm>
            <a:off x="685800" y="411480"/>
            <a:ext cx="5996520" cy="89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Poppins"/>
                <a:ea typeface="Poppins"/>
              </a:rPr>
              <a:t>Growth Roadmap &amp; Closing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Shape 10"/>
          <p:cNvSpPr/>
          <p:nvPr/>
        </p:nvSpPr>
        <p:spPr>
          <a:xfrm>
            <a:off x="914400" y="1536840"/>
            <a:ext cx="2327760" cy="746640"/>
          </a:xfrm>
          <a:prstGeom prst="roundRect">
            <a:avLst>
              <a:gd name="adj" fmla="val 16667"/>
            </a:avLst>
          </a:prstGeom>
          <a:solidFill>
            <a:srgbClr val="151b2e"/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50" spc="-1" strike="noStrike">
                <a:solidFill>
                  <a:srgbClr val="ffffff"/>
                </a:solidFill>
                <a:latin typeface="Poppins"/>
                <a:ea typeface="Poppins"/>
              </a:rPr>
              <a:t>Months 0-3: MVP live in 2 launch markets; D1 &gt; 30%; D7 &gt; 12%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Shape 11"/>
          <p:cNvSpPr/>
          <p:nvPr/>
        </p:nvSpPr>
        <p:spPr>
          <a:xfrm>
            <a:off x="3657600" y="1510200"/>
            <a:ext cx="2327760" cy="773280"/>
          </a:xfrm>
          <a:prstGeom prst="roundRect">
            <a:avLst>
              <a:gd name="adj" fmla="val 16667"/>
            </a:avLst>
          </a:prstGeom>
          <a:solidFill>
            <a:srgbClr val="151b2e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50" spc="-1" strike="noStrike">
                <a:solidFill>
                  <a:srgbClr val="ffffff"/>
                </a:solidFill>
                <a:latin typeface="Poppins"/>
                <a:ea typeface="Poppins"/>
              </a:rPr>
              <a:t>Months 4-9: 25k MAU; CAC &lt; $1.50; wallet attach &gt; 35%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Shape 12"/>
          <p:cNvSpPr/>
          <p:nvPr/>
        </p:nvSpPr>
        <p:spPr>
          <a:xfrm>
            <a:off x="914400" y="2743200"/>
            <a:ext cx="2327760" cy="773280"/>
          </a:xfrm>
          <a:prstGeom prst="roundRect">
            <a:avLst>
              <a:gd name="adj" fmla="val 16667"/>
            </a:avLst>
          </a:prstGeom>
          <a:solidFill>
            <a:srgbClr val="151b2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50" spc="-1" strike="noStrike">
                <a:solidFill>
                  <a:srgbClr val="ffffff"/>
                </a:solidFill>
                <a:latin typeface="Poppins"/>
                <a:ea typeface="Poppins"/>
              </a:rPr>
              <a:t>Months 10-15: 75k MAU; payer conversion &gt; 6%; LTV/CAC trending to 3x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Shape 13"/>
          <p:cNvSpPr/>
          <p:nvPr/>
        </p:nvSpPr>
        <p:spPr>
          <a:xfrm>
            <a:off x="3657600" y="2743200"/>
            <a:ext cx="2327760" cy="773280"/>
          </a:xfrm>
          <a:prstGeom prst="roundRect">
            <a:avLst>
              <a:gd name="adj" fmla="val 16667"/>
            </a:avLst>
          </a:prstGeom>
          <a:solidFill>
            <a:srgbClr val="151b2e"/>
          </a:solidFill>
          <a:ln w="12700">
            <a:solidFill>
              <a:srgbClr val="facc1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50" spc="-1" strike="noStrike">
                <a:solidFill>
                  <a:srgbClr val="ffffff"/>
                </a:solidFill>
                <a:latin typeface="Poppins"/>
                <a:ea typeface="Poppins"/>
              </a:rPr>
              <a:t>Months 16-18: 100k MAU; LTV/CAC &gt; 3x; add 2 new game modes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Shape 30"/>
          <p:cNvSpPr/>
          <p:nvPr/>
        </p:nvSpPr>
        <p:spPr>
          <a:xfrm>
            <a:off x="868680" y="4572000"/>
            <a:ext cx="7494120" cy="63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acc15"/>
                </a:solidFill>
                <a:latin typeface="Poppins"/>
                <a:ea typeface="Poppins"/>
              </a:rPr>
              <a:t>Raising $1.2M seed for 18 months of product, growth, and compliance.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5" name="Picture 32" descr=""/>
          <p:cNvPicPr/>
          <p:nvPr/>
        </p:nvPicPr>
        <p:blipFill>
          <a:blip r:embed="rId1"/>
          <a:stretch/>
        </p:blipFill>
        <p:spPr>
          <a:xfrm>
            <a:off x="7086600" y="914400"/>
            <a:ext cx="2053800" cy="3884760"/>
          </a:xfrm>
          <a:prstGeom prst="rect">
            <a:avLst/>
          </a:prstGeom>
          <a:ln w="0">
            <a:noFill/>
          </a:ln>
        </p:spPr>
      </p:pic>
      <p:pic>
        <p:nvPicPr>
          <p:cNvPr id="96" name="Picture 33" descr=""/>
          <p:cNvPicPr/>
          <p:nvPr/>
        </p:nvPicPr>
        <p:blipFill>
          <a:blip r:embed="rId2"/>
          <a:stretch/>
        </p:blipFill>
        <p:spPr>
          <a:xfrm>
            <a:off x="9372600" y="914760"/>
            <a:ext cx="2053800" cy="3884400"/>
          </a:xfrm>
          <a:prstGeom prst="rect">
            <a:avLst/>
          </a:prstGeom>
          <a:ln w="0">
            <a:noFill/>
          </a:ln>
        </p:spPr>
      </p:pic>
      <p:sp>
        <p:nvSpPr>
          <p:cNvPr id="97" name="Shape 90"/>
          <p:cNvSpPr/>
          <p:nvPr/>
        </p:nvSpPr>
        <p:spPr>
          <a:xfrm>
            <a:off x="685800" y="6400800"/>
            <a:ext cx="662832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a1a1aa"/>
                </a:solidFill>
                <a:latin typeface="Open Sans"/>
                <a:ea typeface="Open Sans"/>
              </a:rPr>
              <a:t>Use of funds: 45% product, 30% growth, 15% ops/compliance, 10% support/data.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2026-04-01T01:47:39Z</dcterms:created>
  <dc:creator>OpenAI Codex</dc:creator>
  <dc:description/>
  <dc:language>en-US</dc:language>
  <cp:lastModifiedBy/>
  <dcterms:modified xsi:type="dcterms:W3CDTF">2026-04-01T11:27:21Z</dcterms:modified>
  <cp:revision>13</cp:revision>
  <dc:subject/>
  <dc:title>Bingo Game Investor Pitch Deck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10</vt:i4>
  </property>
</Properties>
</file>